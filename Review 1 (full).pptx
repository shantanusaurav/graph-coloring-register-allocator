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173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· INITIAL DESIGN, PLANNING &amp; FEASIBILITY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1783080"/>
            <a:ext cx="6949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Graph-Coloring Based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Allocator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3520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unbounded program variables onto a fixed set of physical registers, one color at a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4434840"/>
            <a:ext cx="292608" cy="2926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4425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4165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4855464"/>
            <a:ext cx="292608" cy="292608"/>
          </a:xfrm>
          <a:prstGeom prst="ellipse">
            <a:avLst/>
          </a:prstGeom>
          <a:solidFill>
            <a:srgbClr val="02A89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846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83717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5276088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52669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257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5696712"/>
            <a:ext cx="292608" cy="2926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5687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56784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6172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[Guide Name]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69680" y="1371600"/>
            <a:ext cx="2011680" cy="274320"/>
          </a:xfrm>
          <a:prstGeom prst="line">
            <a:avLst/>
          </a:prstGeom>
          <a:noFill/>
          <a:ln w="15875">
            <a:solidFill>
              <a:srgbClr val="3B4C7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69680" y="1371600"/>
            <a:ext cx="914400" cy="1188720"/>
          </a:xfrm>
          <a:prstGeom prst="line">
            <a:avLst/>
          </a:prstGeom>
          <a:noFill/>
          <a:ln w="15875">
            <a:solidFill>
              <a:srgbClr val="3B4C7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8412480" y="1371600"/>
            <a:ext cx="457200" cy="1828800"/>
          </a:xfrm>
          <a:prstGeom prst="line">
            <a:avLst/>
          </a:prstGeom>
          <a:noFill/>
          <a:ln w="15875">
            <a:solidFill>
              <a:srgbClr val="3B4C7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9784080" y="1645920"/>
            <a:ext cx="1097280" cy="914400"/>
          </a:xfrm>
          <a:prstGeom prst="line">
            <a:avLst/>
          </a:prstGeom>
          <a:noFill/>
          <a:ln w="15875">
            <a:solidFill>
              <a:srgbClr val="3B4C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81360" y="1645920"/>
            <a:ext cx="274320" cy="1737360"/>
          </a:xfrm>
          <a:prstGeom prst="line">
            <a:avLst/>
          </a:prstGeom>
          <a:noFill/>
          <a:ln w="15875">
            <a:solidFill>
              <a:srgbClr val="3B4C7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8412480" y="2560320"/>
            <a:ext cx="1371600" cy="640080"/>
          </a:xfrm>
          <a:prstGeom prst="line">
            <a:avLst/>
          </a:prstGeom>
          <a:noFill/>
          <a:ln w="15875">
            <a:solidFill>
              <a:srgbClr val="3B4C7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84080" y="2560320"/>
            <a:ext cx="1371600" cy="822960"/>
          </a:xfrm>
          <a:prstGeom prst="line">
            <a:avLst/>
          </a:prstGeom>
          <a:noFill/>
          <a:ln w="15875">
            <a:solidFill>
              <a:srgbClr val="3B4C7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9601200" y="2560320"/>
            <a:ext cx="182880" cy="1737360"/>
          </a:xfrm>
          <a:prstGeom prst="line">
            <a:avLst/>
          </a:prstGeom>
          <a:noFill/>
          <a:ln w="15875">
            <a:solidFill>
              <a:srgbClr val="3B4C7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0" y="3200400"/>
            <a:ext cx="1188720" cy="1097280"/>
          </a:xfrm>
          <a:prstGeom prst="line">
            <a:avLst/>
          </a:prstGeom>
          <a:noFill/>
          <a:ln w="15875">
            <a:solidFill>
              <a:srgbClr val="3B4C7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9601200" y="3383280"/>
            <a:ext cx="1554480" cy="914400"/>
          </a:xfrm>
          <a:prstGeom prst="line">
            <a:avLst/>
          </a:prstGeom>
          <a:noFill/>
          <a:ln w="15875">
            <a:solidFill>
              <a:srgbClr val="3B4C7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1064240" y="3383280"/>
            <a:ext cx="91440" cy="1645920"/>
          </a:xfrm>
          <a:prstGeom prst="line">
            <a:avLst/>
          </a:prstGeom>
          <a:noFill/>
          <a:ln w="15875">
            <a:solidFill>
              <a:srgbClr val="3B4C7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0" y="4297680"/>
            <a:ext cx="1463040" cy="731520"/>
          </a:xfrm>
          <a:prstGeom prst="line">
            <a:avLst/>
          </a:prstGeom>
          <a:noFill/>
          <a:ln w="15875">
            <a:solidFill>
              <a:srgbClr val="3B4C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8869680" y="4297680"/>
            <a:ext cx="731520" cy="731520"/>
          </a:xfrm>
          <a:prstGeom prst="line">
            <a:avLst/>
          </a:prstGeom>
          <a:noFill/>
          <a:ln w="15875">
            <a:solidFill>
              <a:srgbClr val="3B4C7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0" y="3200400"/>
            <a:ext cx="457200" cy="1828800"/>
          </a:xfrm>
          <a:prstGeom prst="line">
            <a:avLst/>
          </a:prstGeom>
          <a:noFill/>
          <a:ln w="15875">
            <a:solidFill>
              <a:srgbClr val="3B4C7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32520" y="1234440"/>
            <a:ext cx="274320" cy="274320"/>
          </a:xfrm>
          <a:prstGeom prst="ellipse">
            <a:avLst/>
          </a:prstGeom>
          <a:solidFill>
            <a:srgbClr val="F9616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744200" y="1508760"/>
            <a:ext cx="274320" cy="274320"/>
          </a:xfrm>
          <a:prstGeom prst="ellipse">
            <a:avLst/>
          </a:prstGeom>
          <a:solidFill>
            <a:srgbClr val="02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46920" y="2423160"/>
            <a:ext cx="274320" cy="274320"/>
          </a:xfrm>
          <a:prstGeom prst="ellipse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75320" y="3063240"/>
            <a:ext cx="274320" cy="274320"/>
          </a:xfrm>
          <a:prstGeom prst="ellipse">
            <a:avLst/>
          </a:prstGeom>
          <a:solidFill>
            <a:srgbClr val="02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018520" y="3246120"/>
            <a:ext cx="274320" cy="274320"/>
          </a:xfrm>
          <a:prstGeom prst="ellipse">
            <a:avLst/>
          </a:prstGeom>
          <a:solidFill>
            <a:srgbClr val="F9616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64040" y="4160520"/>
            <a:ext cx="274320" cy="274320"/>
          </a:xfrm>
          <a:prstGeom prst="ellipse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927080" y="4892040"/>
            <a:ext cx="274320" cy="274320"/>
          </a:xfrm>
          <a:prstGeom prst="ellipse">
            <a:avLst/>
          </a:prstGeom>
          <a:solidFill>
            <a:srgbClr val="F9616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32520" y="4892040"/>
            <a:ext cx="274320" cy="274320"/>
          </a:xfrm>
          <a:prstGeom prst="ellipse">
            <a:avLst/>
          </a:prstGeom>
          <a:solidFill>
            <a:srgbClr val="02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Graph-Coloring Based Register Allocator  ·  Review 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Background &amp; Motivation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01368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1636776"/>
            <a:ext cx="57790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registers are extremely fast but strictly limited in number.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578608"/>
            <a:ext cx="91440" cy="91440"/>
          </a:xfrm>
          <a:prstGeom prst="ellipse">
            <a:avLst/>
          </a:prstGeom>
          <a:solidFill>
            <a:srgbClr val="02A896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2414016"/>
            <a:ext cx="57790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programs use an unlimited number of variables.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35584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3191256"/>
            <a:ext cx="57790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must efficiently map these variables to physical registers.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4133088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3968496"/>
            <a:ext cx="57790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mapping leads to memory spilling, severely degrading performance.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40880" y="1600200"/>
            <a:ext cx="4617720" cy="4480560"/>
          </a:xfrm>
          <a:prstGeom prst="roundRect">
            <a:avLst>
              <a:gd name="adj" fmla="val 163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0" y="1783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06640" y="2148840"/>
            <a:ext cx="3886200" cy="777240"/>
          </a:xfrm>
          <a:prstGeom prst="roundRect">
            <a:avLst>
              <a:gd name="adj" fmla="val 8235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214884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IR Variables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8572" y="3017520"/>
            <a:ext cx="402336" cy="365760"/>
          </a:xfrm>
          <a:prstGeom prst="downArrow">
            <a:avLst/>
          </a:prstGeom>
          <a:solidFill>
            <a:srgbClr val="3B4C77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6720" y="3474720"/>
            <a:ext cx="2606040" cy="685800"/>
          </a:xfrm>
          <a:prstGeom prst="roundRect">
            <a:avLst>
              <a:gd name="adj" fmla="val 9333"/>
            </a:avLst>
          </a:prstGeom>
          <a:solidFill>
            <a:srgbClr val="02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34747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Physical Registers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85148" y="4251960"/>
            <a:ext cx="329184" cy="320040"/>
          </a:xfrm>
          <a:prstGeom prst="downArrow">
            <a:avLst/>
          </a:prstGeom>
          <a:solidFill>
            <a:srgbClr val="F96167"/>
          </a:solidFill>
          <a:ln/>
        </p:spPr>
      </p:sp>
      <p:sp>
        <p:nvSpPr>
          <p:cNvPr id="20" name="Shape 18"/>
          <p:cNvSpPr/>
          <p:nvPr/>
        </p:nvSpPr>
        <p:spPr>
          <a:xfrm>
            <a:off x="7818120" y="4663440"/>
            <a:ext cx="3063240" cy="594360"/>
          </a:xfrm>
          <a:prstGeom prst="roundRect">
            <a:avLst>
              <a:gd name="adj" fmla="val 10769"/>
            </a:avLst>
          </a:prstGeom>
          <a:solidFill>
            <a:srgbClr val="FDEBEA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46634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→ Memory Spill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Graph-Coloring Based Register Allocator  ·  Review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7406640" cy="3749040"/>
          </a:xfrm>
          <a:prstGeom prst="roundRect">
            <a:avLst>
              <a:gd name="adj" fmla="val 195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02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6400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register allocator that effectively maps an </a:t>
            </a:r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set of Intermediate Representation (IR) variables</a:t>
            </a:r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 </a:t>
            </a:r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number of physical registers (K)</a:t>
            </a:r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graph coloring techniques, thereby minimizing memory spills.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0" y="2286000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8229600" y="32461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variables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761220" y="3611880"/>
            <a:ext cx="365760" cy="365760"/>
          </a:xfrm>
          <a:prstGeom prst="downArrow">
            <a:avLst/>
          </a:prstGeom>
          <a:solidFill>
            <a:srgbClr val="3B4C7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0" y="397764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229600" y="50292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registers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Graph-Coloring Based Register Allocator  ·  Review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140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350008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Intermediate Representation (IR) and build the CFG.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319272"/>
            <a:ext cx="365760" cy="365760"/>
          </a:xfrm>
          <a:prstGeom prst="ellipse">
            <a:avLst/>
          </a:prstGeom>
          <a:solidFill>
            <a:srgbClr val="02A89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310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32461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data-flow (liveness) analysis.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215384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414223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interference graphs.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5111496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102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5038344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registers using graph coloring.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17920" y="1691640"/>
            <a:ext cx="5470855" cy="4434840"/>
          </a:xfrm>
          <a:prstGeom prst="roundRect">
            <a:avLst>
              <a:gd name="adj" fmla="val 164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7960" y="1920240"/>
            <a:ext cx="4830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37960" y="2532888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793992" y="2368296"/>
            <a:ext cx="4574743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Intra-procedural allocation for custom Three-Address Code.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37960" y="3447288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793992" y="3282696"/>
            <a:ext cx="4574743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Straight-line code and basic control-flow handling.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537960" y="4343400"/>
            <a:ext cx="4830775" cy="1463040"/>
          </a:xfrm>
          <a:prstGeom prst="roundRect">
            <a:avLst>
              <a:gd name="adj" fmla="val 3750"/>
            </a:avLst>
          </a:prstGeom>
          <a:solidFill>
            <a:srgbClr val="3B4C77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4434840"/>
            <a:ext cx="446501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inter-procedural allocation, register coalescing, and target-specific ISA constraints (see Future Extensions).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Graph-Coloring Based Register Allocator  ·  Review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STUDY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&amp; Tool Survey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8585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947008"/>
                <a:gridCol w="3947008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Scan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Coloring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Compilation speed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quality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JIT compilers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AOT compilers (GCC / LLVM)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97764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4343400"/>
            <a:ext cx="292608" cy="2926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4334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41832" y="4288536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Chaitin, G. J. (1982). Register allocation &amp; spilling via graph coloring.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4910328"/>
            <a:ext cx="292608" cy="292608"/>
          </a:xfrm>
          <a:prstGeom prst="ellipse">
            <a:avLst/>
          </a:prstGeom>
          <a:solidFill>
            <a:srgbClr val="02A896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49011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41832" y="4855464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Briggs, P. (1992). Register allocation via graph coloring.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5477256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468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1832" y="5422392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Aho, A. V. et al. (2006). Compilers: Principles, Techniques, and Tools (Dragon Book) — foundational data-flow theory.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Graph-Coloring Based Register Allocator  ·  Review 1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Identified Gap &amp; Proposed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272888" cy="4297680"/>
          </a:xfrm>
          <a:prstGeom prst="roundRect">
            <a:avLst>
              <a:gd name="adj" fmla="val 1702"/>
            </a:avLst>
          </a:prstGeom>
          <a:solidFill>
            <a:srgbClr val="FDEDEC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47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993392"/>
            <a:ext cx="417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632808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compilers (GCC / LLVM) heavily optimize and obscure their intermediate register-allocation states — internals are difficult to study directly.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85536" y="3566160"/>
            <a:ext cx="457200" cy="411480"/>
          </a:xfrm>
          <a:prstGeom prst="rightArrow">
            <a:avLst/>
          </a:prstGeom>
          <a:solidFill>
            <a:srgbClr val="3B4C77"/>
          </a:solidFill>
          <a:ln/>
        </p:spPr>
      </p:sp>
      <p:sp>
        <p:nvSpPr>
          <p:cNvPr id="10" name="Shape 8"/>
          <p:cNvSpPr/>
          <p:nvPr/>
        </p:nvSpPr>
        <p:spPr>
          <a:xfrm>
            <a:off x="6415888" y="1737360"/>
            <a:ext cx="5272888" cy="4297680"/>
          </a:xfrm>
          <a:prstGeom prst="roundRect">
            <a:avLst>
              <a:gd name="adj" fmla="val 1702"/>
            </a:avLst>
          </a:prstGeom>
          <a:solidFill>
            <a:srgbClr val="E7F8F4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35928" y="1965960"/>
            <a:ext cx="310896" cy="310896"/>
          </a:xfrm>
          <a:prstGeom prst="ellipse">
            <a:avLst/>
          </a:prstGeom>
          <a:solidFill>
            <a:srgbClr val="02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735928" y="1947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93128" y="1993392"/>
            <a:ext cx="417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35928" y="2715768"/>
            <a:ext cx="91440" cy="91440"/>
          </a:xfrm>
          <a:prstGeom prst="ellipse">
            <a:avLst/>
          </a:prstGeom>
          <a:solidFill>
            <a:srgbClr val="02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6991960" y="2551176"/>
            <a:ext cx="43767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Educational, modular allocator demonstrating Chaitin's heuristic.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35928" y="3675888"/>
            <a:ext cx="91440" cy="91440"/>
          </a:xfrm>
          <a:prstGeom prst="ellipse">
            <a:avLst/>
          </a:prstGeom>
          <a:solidFill>
            <a:srgbClr val="02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991960" y="3511296"/>
            <a:ext cx="43767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spill handling for over-subscribed registers.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35928" y="4636008"/>
            <a:ext cx="91440" cy="91440"/>
          </a:xfrm>
          <a:prstGeom prst="ellipse">
            <a:avLst/>
          </a:prstGeom>
          <a:solidFill>
            <a:srgbClr val="02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6991960" y="4471416"/>
            <a:ext cx="43767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visualizations of liveness sets and interference graphs.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Graph-Coloring Based Register Allocator  ·  Review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33546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6596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56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50008"/>
            <a:ext cx="325922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(Three-Address Code)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54754" y="2363724"/>
            <a:ext cx="256032" cy="256032"/>
          </a:xfrm>
          <a:prstGeom prst="rightArrow">
            <a:avLst/>
          </a:prstGeom>
          <a:solidFill>
            <a:srgbClr val="3B4C77"/>
          </a:solidFill>
          <a:ln/>
        </p:spPr>
      </p:sp>
      <p:sp>
        <p:nvSpPr>
          <p:cNvPr id="9" name="Shape 7"/>
          <p:cNvSpPr/>
          <p:nvPr/>
        </p:nvSpPr>
        <p:spPr>
          <a:xfrm>
            <a:off x="4329074" y="1783080"/>
            <a:ext cx="3533546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11954" y="1965960"/>
            <a:ext cx="365760" cy="365760"/>
          </a:xfrm>
          <a:prstGeom prst="ellipse">
            <a:avLst/>
          </a:prstGeom>
          <a:solidFill>
            <a:srgbClr val="02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11954" y="1956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66234" y="2350008"/>
            <a:ext cx="325922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 / Basic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Builder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880909" y="2363724"/>
            <a:ext cx="256032" cy="256032"/>
          </a:xfrm>
          <a:prstGeom prst="rightArrow">
            <a:avLst/>
          </a:prstGeom>
          <a:solidFill>
            <a:srgbClr val="3B4C77"/>
          </a:solidFill>
          <a:ln/>
        </p:spPr>
      </p:sp>
      <p:sp>
        <p:nvSpPr>
          <p:cNvPr id="14" name="Shape 12"/>
          <p:cNvSpPr/>
          <p:nvPr/>
        </p:nvSpPr>
        <p:spPr>
          <a:xfrm>
            <a:off x="8155229" y="1783080"/>
            <a:ext cx="3533546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8109" y="1965960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338109" y="1956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92389" y="2350008"/>
            <a:ext cx="325922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Analyzer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 / OUT Sets)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775698" y="3246120"/>
            <a:ext cx="292608" cy="429768"/>
          </a:xfrm>
          <a:prstGeom prst="downArrow">
            <a:avLst/>
          </a:prstGeom>
          <a:solidFill>
            <a:srgbClr val="3B4C77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3977640"/>
            <a:ext cx="3533546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16052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151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544568"/>
            <a:ext cx="325922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Builder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329074" y="3977640"/>
            <a:ext cx="3533546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11954" y="4160520"/>
            <a:ext cx="365760" cy="365760"/>
          </a:xfrm>
          <a:prstGeom prst="ellipse">
            <a:avLst/>
          </a:prstGeom>
          <a:solidFill>
            <a:srgbClr val="02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4511954" y="4151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66234" y="4544568"/>
            <a:ext cx="325922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Coloring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(Stack Push/Pop)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155229" y="3977640"/>
            <a:ext cx="3533546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38109" y="4160520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9" name="Text 27"/>
          <p:cNvSpPr/>
          <p:nvPr/>
        </p:nvSpPr>
        <p:spPr>
          <a:xfrm>
            <a:off x="8338109" y="4151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92389" y="4544568"/>
            <a:ext cx="325922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(Assigned IR / Spill Rewrite)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054754" y="4558284"/>
            <a:ext cx="256032" cy="256032"/>
          </a:xfrm>
          <a:prstGeom prst="rightArrow">
            <a:avLst/>
          </a:prstGeom>
          <a:solidFill>
            <a:srgbClr val="3B4C77"/>
          </a:solidFill>
          <a:ln/>
        </p:spPr>
      </p:sp>
      <p:sp>
        <p:nvSpPr>
          <p:cNvPr id="32" name="Shape 30"/>
          <p:cNvSpPr/>
          <p:nvPr/>
        </p:nvSpPr>
        <p:spPr>
          <a:xfrm>
            <a:off x="7880909" y="4558284"/>
            <a:ext cx="256032" cy="256032"/>
          </a:xfrm>
          <a:prstGeom prst="rightArrow">
            <a:avLst/>
          </a:prstGeom>
          <a:solidFill>
            <a:srgbClr val="3B4C77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Graph-Coloring Based Register Allocator  ·  Review 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Descriptions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455768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025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43584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71600" y="2240280"/>
            <a:ext cx="435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 Parser &amp; CFG Builder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49071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TAC instructions and isolates basic blocks.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737360"/>
            <a:ext cx="5455768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07328" y="2011680"/>
            <a:ext cx="420624" cy="420624"/>
          </a:xfrm>
          <a:prstGeom prst="ellipse">
            <a:avLst/>
          </a:prstGeom>
          <a:solidFill>
            <a:srgbClr val="02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507328" y="20025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01688" y="2011680"/>
            <a:ext cx="43584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01688" y="2240280"/>
            <a:ext cx="435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Liveness Analyzer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507328" y="2788920"/>
            <a:ext cx="49071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DEF, USE, IN and OUT data-flow equations.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977640"/>
            <a:ext cx="5455768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251960"/>
            <a:ext cx="420624" cy="42062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2428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251960"/>
            <a:ext cx="43584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371600" y="4480560"/>
            <a:ext cx="435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Interference Graph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77240" y="5029200"/>
            <a:ext cx="49071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Constructs adjacency lists based on liveness overlap.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33008" y="3977640"/>
            <a:ext cx="5455768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07328" y="4251960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6507328" y="42428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01688" y="4251960"/>
            <a:ext cx="43584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01688" y="4480560"/>
            <a:ext cx="435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Coloring &amp; Spilling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507328" y="5029200"/>
            <a:ext cx="49071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Chaitin's degree &lt; K simplification and spill-node selection.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Graph-Coloring Based Register Allocator  ·  Review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&amp; Feasibility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545738" cy="4297680"/>
          </a:xfrm>
          <a:prstGeom prst="roundRect">
            <a:avLst>
              <a:gd name="adj" fmla="val 206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329184" cy="32918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476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25398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715768"/>
            <a:ext cx="91440" cy="914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1033272" y="2551176"/>
            <a:ext cx="274106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3264408"/>
            <a:ext cx="91440" cy="914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1033272" y="3099816"/>
            <a:ext cx="274106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Graphviz (visualization)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3813048"/>
            <a:ext cx="91440" cy="914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1033272" y="3648456"/>
            <a:ext cx="274106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(unit testing)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22978" y="1737360"/>
            <a:ext cx="3545738" cy="4297680"/>
          </a:xfrm>
          <a:prstGeom prst="roundRect">
            <a:avLst>
              <a:gd name="adj" fmla="val 206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7298" y="1965960"/>
            <a:ext cx="329184" cy="329184"/>
          </a:xfrm>
          <a:prstGeom prst="ellipse">
            <a:avLst/>
          </a:prstGeom>
          <a:solidFill>
            <a:srgbClr val="02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4597298" y="19476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54498" y="1975104"/>
            <a:ext cx="25398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97298" y="2715768"/>
            <a:ext cx="91440" cy="914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4853330" y="2551176"/>
            <a:ext cx="274106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Multi-core CPU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97298" y="3264408"/>
            <a:ext cx="91440" cy="914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4853330" y="3099816"/>
            <a:ext cx="274106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RAM minimum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143037" y="1737360"/>
            <a:ext cx="3545738" cy="4297680"/>
          </a:xfrm>
          <a:prstGeom prst="roundRect">
            <a:avLst>
              <a:gd name="adj" fmla="val 206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17357" y="201168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43037" y="2468880"/>
            <a:ext cx="354573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8417357" y="3429000"/>
            <a:ext cx="299709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software-driven, algorithmic implementation built on well-documented heuristics — no exotic dependencies or hardware needs.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Graph-Coloring Based Register Allocator  ·  Review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Mitigation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432908" cy="4297680"/>
          </a:xfrm>
          <a:prstGeom prst="roundRect">
            <a:avLst>
              <a:gd name="adj" fmla="val 1702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56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947672"/>
            <a:ext cx="42441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Infinite Spill Loops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7928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47928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Spilling creates new temporaries, which may themselves get spilled again.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47928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479282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Carefully prioritize and protect newly generated temporary variables.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55868" y="1737360"/>
            <a:ext cx="5432908" cy="4297680"/>
          </a:xfrm>
          <a:prstGeom prst="roundRect">
            <a:avLst>
              <a:gd name="adj" fmla="val 1702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75908" y="196596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6575908" y="1956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24548" y="1947672"/>
            <a:ext cx="42441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Incorrect Interference Graph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75908" y="2606040"/>
            <a:ext cx="47928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75908" y="2880360"/>
            <a:ext cx="47928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in liveness calculations can lead to incorrect overlap detection.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75908" y="3886200"/>
            <a:ext cx="47928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75908" y="4160520"/>
            <a:ext cx="479282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unit testing against known, standard textbook IR blocks.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Graph-Coloring Based Register Allocator  ·  Review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&amp; Team Responsibility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029200" cy="4297680"/>
          </a:xfrm>
          <a:prstGeom prst="roundRect">
            <a:avLst>
              <a:gd name="adj" fmla="val 1702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ROLES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225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3500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Parser &amp; CFG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246120"/>
            <a:ext cx="420624" cy="420624"/>
          </a:xfrm>
          <a:prstGeom prst="ellipse">
            <a:avLst/>
          </a:prstGeom>
          <a:solidFill>
            <a:srgbClr val="02A89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2369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32644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Data-Flow Analyst (Liveness)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160520"/>
            <a:ext cx="420624" cy="42062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1513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41788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Specialist (Construction &amp; Viz)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5074920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0657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50932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Allocator &amp; Spiller (Heuristics)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52160" y="1737360"/>
            <a:ext cx="5836615" cy="4297680"/>
          </a:xfrm>
          <a:prstGeom prst="roundRect">
            <a:avLst>
              <a:gd name="adj" fmla="val 1702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6480" y="1920240"/>
            <a:ext cx="5287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2423160"/>
            <a:ext cx="5287975" cy="914400"/>
          </a:xfrm>
          <a:prstGeom prst="roundRect">
            <a:avLst>
              <a:gd name="adj" fmla="val 6000"/>
            </a:avLst>
          </a:prstGeom>
          <a:solidFill>
            <a:srgbClr val="3B4C77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2514600"/>
            <a:ext cx="48307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55080" y="2825496"/>
            <a:ext cx="48307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Literature, architecture, parsing.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26480" y="3593592"/>
            <a:ext cx="5287975" cy="914400"/>
          </a:xfrm>
          <a:prstGeom prst="roundRect">
            <a:avLst>
              <a:gd name="adj" fmla="val 6000"/>
            </a:avLst>
          </a:prstGeom>
          <a:solidFill>
            <a:srgbClr val="3B4C77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3685032"/>
            <a:ext cx="48307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55080" y="3995928"/>
            <a:ext cx="48307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&amp; base coloring engine.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26480" y="4764024"/>
            <a:ext cx="5287975" cy="914400"/>
          </a:xfrm>
          <a:prstGeom prst="roundRect">
            <a:avLst>
              <a:gd name="adj" fmla="val 6000"/>
            </a:avLst>
          </a:prstGeom>
          <a:solidFill>
            <a:srgbClr val="02A896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4855464"/>
            <a:ext cx="48307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9–12  ·  CURRENT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355080" y="5166360"/>
            <a:ext cx="48307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Spilling logic &amp; system integration.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Graph-Coloring Based Register Allocator  ·  Review 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Progress &amp; Testing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760720" cy="4297680"/>
          </a:xfrm>
          <a:prstGeom prst="roundRect">
            <a:avLst>
              <a:gd name="adj" fmla="val 1702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PROGRESS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Parsing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26280" y="2423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5212080" cy="201168"/>
          </a:xfrm>
          <a:prstGeom prst="roundRect">
            <a:avLst>
              <a:gd name="adj" fmla="val 18182"/>
            </a:avLst>
          </a:prstGeom>
          <a:solidFill>
            <a:srgbClr val="E3E8F2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743200"/>
            <a:ext cx="5212080" cy="201168"/>
          </a:xfrm>
          <a:prstGeom prst="roundRect">
            <a:avLst>
              <a:gd name="adj" fmla="val 18182"/>
            </a:avLst>
          </a:prstGeom>
          <a:solidFill>
            <a:srgbClr val="02A89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3192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Analysis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26280" y="33192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639312"/>
            <a:ext cx="5212080" cy="201168"/>
          </a:xfrm>
          <a:prstGeom prst="roundRect">
            <a:avLst>
              <a:gd name="adj" fmla="val 18182"/>
            </a:avLst>
          </a:prstGeom>
          <a:solidFill>
            <a:srgbClr val="E3E8F2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639312"/>
            <a:ext cx="5212080" cy="201168"/>
          </a:xfrm>
          <a:prstGeom prst="roundRect">
            <a:avLst>
              <a:gd name="adj" fmla="val 18182"/>
            </a:avLst>
          </a:prstGeom>
          <a:solidFill>
            <a:srgbClr val="02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153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Construction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26280" y="42153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535424"/>
            <a:ext cx="5212080" cy="201168"/>
          </a:xfrm>
          <a:prstGeom prst="roundRect">
            <a:avLst>
              <a:gd name="adj" fmla="val 18182"/>
            </a:avLst>
          </a:prstGeom>
          <a:solidFill>
            <a:srgbClr val="E3E8F2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535424"/>
            <a:ext cx="5212080" cy="201168"/>
          </a:xfrm>
          <a:prstGeom prst="roundRect">
            <a:avLst>
              <a:gd name="adj" fmla="val 18182"/>
            </a:avLst>
          </a:prstGeom>
          <a:solidFill>
            <a:srgbClr val="02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1114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Coloring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26280" y="511149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· Active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5431536"/>
            <a:ext cx="5212080" cy="201168"/>
          </a:xfrm>
          <a:prstGeom prst="roundRect">
            <a:avLst>
              <a:gd name="adj" fmla="val 18182"/>
            </a:avLst>
          </a:prstGeom>
          <a:solidFill>
            <a:srgbClr val="E3E8F2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431536"/>
            <a:ext cx="4169664" cy="201168"/>
          </a:xfrm>
          <a:prstGeom prst="roundRect">
            <a:avLst>
              <a:gd name="adj" fmla="val 18182"/>
            </a:avLst>
          </a:prstGeom>
          <a:solidFill>
            <a:srgbClr val="F2A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0" y="1737360"/>
            <a:ext cx="5105095" cy="4297680"/>
          </a:xfrm>
          <a:prstGeom prst="roundRect">
            <a:avLst>
              <a:gd name="adj" fmla="val 1702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58000" y="1920240"/>
            <a:ext cx="4556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0" y="2487168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114032" y="2322576"/>
            <a:ext cx="430042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suite for IN / OUT set logic.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0" y="3538728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114032" y="3374136"/>
            <a:ext cx="430042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Degree-calculation assertions.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0" y="4590288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114032" y="4425696"/>
            <a:ext cx="430042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stress tests that artificially restrict K to force spills.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Graph-Coloring Based Register Allocator  ·  Review 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Results &amp; Future Extensions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432908" cy="4297680"/>
          </a:xfrm>
          <a:prstGeom prst="roundRect">
            <a:avLst>
              <a:gd name="adj" fmla="val 1702"/>
            </a:avLst>
          </a:prstGeom>
          <a:solidFill>
            <a:srgbClr val="E7F8F4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310896" cy="310896"/>
          </a:xfrm>
          <a:prstGeom prst="ellipse">
            <a:avLst/>
          </a:prstGeom>
          <a:solidFill>
            <a:srgbClr val="02A89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47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993392"/>
            <a:ext cx="43356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715768"/>
            <a:ext cx="91440" cy="91440"/>
          </a:xfrm>
          <a:prstGeom prst="ellipse">
            <a:avLst/>
          </a:prstGeom>
          <a:solidFill>
            <a:srgbClr val="02A896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2551176"/>
            <a:ext cx="45367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compiler backend pass translating infinite virtual variables to K physical registers.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767328"/>
            <a:ext cx="91440" cy="91440"/>
          </a:xfrm>
          <a:prstGeom prst="ellipse">
            <a:avLst/>
          </a:prstGeom>
          <a:solidFill>
            <a:srgbClr val="02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3602736"/>
            <a:ext cx="45367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memory-spill and load/store code rewriting.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5868" y="1737360"/>
            <a:ext cx="5432908" cy="4297680"/>
          </a:xfrm>
          <a:prstGeom prst="roundRect">
            <a:avLst>
              <a:gd name="adj" fmla="val 1702"/>
            </a:avLst>
          </a:prstGeom>
          <a:solidFill>
            <a:srgbClr val="FDF3E3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75908" y="1965960"/>
            <a:ext cx="310896" cy="3108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575908" y="1920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33108" y="1993392"/>
            <a:ext cx="43356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C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EXTENSIONS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75908" y="2715768"/>
            <a:ext cx="91440" cy="91440"/>
          </a:xfrm>
          <a:prstGeom prst="ellipse">
            <a:avLst/>
          </a:prstGeom>
          <a:solidFill>
            <a:srgbClr val="C08A1E"/>
          </a:solidFill>
          <a:ln/>
        </p:spPr>
      </p:sp>
      <p:sp>
        <p:nvSpPr>
          <p:cNvPr id="17" name="Text 15"/>
          <p:cNvSpPr/>
          <p:nvPr/>
        </p:nvSpPr>
        <p:spPr>
          <a:xfrm>
            <a:off x="6831940" y="2551176"/>
            <a:ext cx="45367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coalescing to remove redundant MOV instructions.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75908" y="3767328"/>
            <a:ext cx="91440" cy="91440"/>
          </a:xfrm>
          <a:prstGeom prst="ellipse">
            <a:avLst/>
          </a:prstGeom>
          <a:solidFill>
            <a:srgbClr val="C08A1E"/>
          </a:solidFill>
          <a:ln/>
        </p:spPr>
      </p:sp>
      <p:sp>
        <p:nvSpPr>
          <p:cNvPr id="19" name="Text 17"/>
          <p:cNvSpPr/>
          <p:nvPr/>
        </p:nvSpPr>
        <p:spPr>
          <a:xfrm>
            <a:off x="6831940" y="3602736"/>
            <a:ext cx="45367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Briggs' optimistic coloring heuristic integration.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Graph-Coloring Based Register Allocator  ·  Review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338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9728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Chaitin, G. J. (1982). Register allocation &amp; spilling via graph coloring.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10896" cy="310896"/>
          </a:xfrm>
          <a:prstGeom prst="ellipse">
            <a:avLst/>
          </a:prstGeom>
          <a:solidFill>
            <a:srgbClr val="02A89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7739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73736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Briggs, P. et al. (1994). Improvements to graph coloring register allocation.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423160"/>
            <a:ext cx="310896" cy="3108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4140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37744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Aho, A. V. et al. (2006). Compilers: Principles, Techniques, and Tools.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93192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02920" y="470916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89720" y="1600200"/>
            <a:ext cx="1554480" cy="274320"/>
          </a:xfrm>
          <a:prstGeom prst="line">
            <a:avLst/>
          </a:prstGeom>
          <a:noFill/>
          <a:ln w="15875">
            <a:solidFill>
              <a:srgbClr val="3B4C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89720" y="1600200"/>
            <a:ext cx="640080" cy="1188720"/>
          </a:xfrm>
          <a:prstGeom prst="line">
            <a:avLst/>
          </a:prstGeom>
          <a:noFill/>
          <a:ln w="15875">
            <a:solidFill>
              <a:srgbClr val="3B4C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8823960" y="1600200"/>
            <a:ext cx="365760" cy="1737360"/>
          </a:xfrm>
          <a:prstGeom prst="line">
            <a:avLst/>
          </a:prstGeom>
          <a:noFill/>
          <a:ln w="15875">
            <a:solidFill>
              <a:srgbClr val="3B4C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9829800" y="1874520"/>
            <a:ext cx="914400" cy="914400"/>
          </a:xfrm>
          <a:prstGeom prst="line">
            <a:avLst/>
          </a:prstGeom>
          <a:noFill/>
          <a:ln w="15875">
            <a:solidFill>
              <a:srgbClr val="3B4C7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0652760" y="1874520"/>
            <a:ext cx="91440" cy="1828800"/>
          </a:xfrm>
          <a:prstGeom prst="line">
            <a:avLst/>
          </a:prstGeom>
          <a:noFill/>
          <a:ln w="15875">
            <a:solidFill>
              <a:srgbClr val="3B4C7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8823960" y="2788920"/>
            <a:ext cx="1005840" cy="548640"/>
          </a:xfrm>
          <a:prstGeom prst="line">
            <a:avLst/>
          </a:prstGeom>
          <a:noFill/>
          <a:ln w="15875">
            <a:solidFill>
              <a:srgbClr val="3B4C7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29800" y="2788920"/>
            <a:ext cx="822960" cy="914400"/>
          </a:xfrm>
          <a:prstGeom prst="line">
            <a:avLst/>
          </a:prstGeom>
          <a:noFill/>
          <a:ln w="15875">
            <a:solidFill>
              <a:srgbClr val="3B4C7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23960" y="3337560"/>
            <a:ext cx="822960" cy="1280160"/>
          </a:xfrm>
          <a:prstGeom prst="line">
            <a:avLst/>
          </a:prstGeom>
          <a:noFill/>
          <a:ln w="15875">
            <a:solidFill>
              <a:srgbClr val="3B4C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9646920" y="3703320"/>
            <a:ext cx="1005840" cy="914400"/>
          </a:xfrm>
          <a:prstGeom prst="line">
            <a:avLst/>
          </a:prstGeom>
          <a:noFill/>
          <a:ln w="15875">
            <a:solidFill>
              <a:srgbClr val="3B4C7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2560" y="1463040"/>
            <a:ext cx="274320" cy="274320"/>
          </a:xfrm>
          <a:prstGeom prst="ellipse">
            <a:avLst/>
          </a:prstGeom>
          <a:solidFill>
            <a:srgbClr val="F9616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07040" y="1737360"/>
            <a:ext cx="274320" cy="274320"/>
          </a:xfrm>
          <a:prstGeom prst="ellipse">
            <a:avLst/>
          </a:prstGeom>
          <a:solidFill>
            <a:srgbClr val="02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92640" y="2651760"/>
            <a:ext cx="274320" cy="274320"/>
          </a:xfrm>
          <a:prstGeom prst="ellipse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0" y="3200400"/>
            <a:ext cx="274320" cy="274320"/>
          </a:xfrm>
          <a:prstGeom prst="ellipse">
            <a:avLst/>
          </a:prstGeom>
          <a:solidFill>
            <a:srgbClr val="02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15600" y="3566160"/>
            <a:ext cx="274320" cy="274320"/>
          </a:xfrm>
          <a:prstGeom prst="ellipse">
            <a:avLst/>
          </a:prstGeom>
          <a:solidFill>
            <a:srgbClr val="F9616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0" y="4480560"/>
            <a:ext cx="274320" cy="274320"/>
          </a:xfrm>
          <a:prstGeom prst="ellipse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Graph-Coloring Based Register Allocator  ·  Review 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2026-08-19T07:45:15Z</dcterms:created>
  <dcterms:modified xsi:type="dcterms:W3CDTF">2026-08-19T07:45:15Z</dcterms:modified>
</cp:coreProperties>
</file>